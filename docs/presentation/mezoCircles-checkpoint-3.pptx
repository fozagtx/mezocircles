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dbe6e87e4b41f8" /><Relationship Type="http://schemas.openxmlformats.org/officeDocument/2006/relationships/extended-properties" Target="/docProps/app.xml" Id="Rfd617dc5dc644ce1" /><Relationship Type="http://schemas.openxmlformats.org/officeDocument/2006/relationships/officeDocument" Target="/ppt/presentation.xml" Id="R09dc883ec775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67c7d2e77c436e"/>
  </p:sldMasterIdLst>
  <p:notesMasterIdLst>
    <p:notesMasterId xmlns:r="http://schemas.openxmlformats.org/officeDocument/2006/relationships" r:id="R7701b3f2d32e4077"/>
  </p:notesMasterIdLst>
  <p:sldIdLst>
    <p:sldId xmlns:r="http://schemas.openxmlformats.org/officeDocument/2006/relationships" id="256" r:id="R9a4f5b34ce1142b8"/>
    <p:sldId xmlns:r="http://schemas.openxmlformats.org/officeDocument/2006/relationships" id="257" r:id="R22f19b38e713482e"/>
    <p:sldId xmlns:r="http://schemas.openxmlformats.org/officeDocument/2006/relationships" id="258" r:id="Rdfbe1e68f576431a"/>
    <p:sldId xmlns:r="http://schemas.openxmlformats.org/officeDocument/2006/relationships" id="259" r:id="R5318f9e53a9d4b18"/>
    <p:sldId xmlns:r="http://schemas.openxmlformats.org/officeDocument/2006/relationships" id="260" r:id="R37d41e229b8d454d"/>
    <p:sldId xmlns:r="http://schemas.openxmlformats.org/officeDocument/2006/relationships" id="261" r:id="Rf56299d101e04424"/>
    <p:sldId xmlns:r="http://schemas.openxmlformats.org/officeDocument/2006/relationships" id="262" r:id="R2b0e02e7eee342fb"/>
    <p:sldId xmlns:r="http://schemas.openxmlformats.org/officeDocument/2006/relationships" id="263" r:id="R4e646d89cf884edb"/>
    <p:sldId xmlns:r="http://schemas.openxmlformats.org/officeDocument/2006/relationships" id="264" r:id="R903ac185510f40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7c7d2e77c436e" /><Relationship Type="http://schemas.openxmlformats.org/officeDocument/2006/relationships/theme" Target="/ppt/theme/theme1.xml" Id="R79bc00e49b7344eb" /><Relationship Type="http://schemas.openxmlformats.org/officeDocument/2006/relationships/notesMaster" Target="/ppt/notesMasters/notesMaster1.xml" Id="R7701b3f2d32e4077" /><Relationship Type="http://schemas.openxmlformats.org/officeDocument/2006/relationships/presProps" Target="/ppt/presProps.xml" Id="R9e770211789e4fb7" /><Relationship Type="http://schemas.openxmlformats.org/officeDocument/2006/relationships/viewProps" Target="/ppt/viewProps.xml" Id="Rf0bc65f9e2924c25" /><Relationship Type="http://schemas.openxmlformats.org/officeDocument/2006/relationships/tableStyles" Target="/ppt/tableStyles.xml" Id="R3f20837e92ad420e" /><Relationship Type="http://schemas.openxmlformats.org/officeDocument/2006/relationships/slide" Target="/ppt/slides/slide1.xml" Id="R9a4f5b34ce1142b8" /><Relationship Type="http://schemas.openxmlformats.org/officeDocument/2006/relationships/slide" Target="/ppt/slides/slide2.xml" Id="R22f19b38e713482e" /><Relationship Type="http://schemas.openxmlformats.org/officeDocument/2006/relationships/slide" Target="/ppt/slides/slide3.xml" Id="Rdfbe1e68f576431a" /><Relationship Type="http://schemas.openxmlformats.org/officeDocument/2006/relationships/slide" Target="/ppt/slides/slide4.xml" Id="R5318f9e53a9d4b18" /><Relationship Type="http://schemas.openxmlformats.org/officeDocument/2006/relationships/slide" Target="/ppt/slides/slide5.xml" Id="R37d41e229b8d454d" /><Relationship Type="http://schemas.openxmlformats.org/officeDocument/2006/relationships/slide" Target="/ppt/slides/slide6.xml" Id="Rf56299d101e04424" /><Relationship Type="http://schemas.openxmlformats.org/officeDocument/2006/relationships/slide" Target="/ppt/slides/slide7.xml" Id="R2b0e02e7eee342fb" /><Relationship Type="http://schemas.openxmlformats.org/officeDocument/2006/relationships/slide" Target="/ppt/slides/slide8.xml" Id="R4e646d89cf884edb" /><Relationship Type="http://schemas.openxmlformats.org/officeDocument/2006/relationships/slide" Target="/ppt/slides/slide9.xml" Id="R903ac185510f40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57c328a682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e57c3c2164920" /><Relationship Type="http://schemas.openxmlformats.org/officeDocument/2006/relationships/notesMaster" Target="/ppt/notesMasters/notesMaster1.xml" Id="Rdc58143a9e854b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1755fdc01344ee" /><Relationship Type="http://schemas.openxmlformats.org/officeDocument/2006/relationships/notesMaster" Target="/ppt/notesMasters/notesMaster1.xml" Id="R651d476aade74c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33783b1d4749d6" /><Relationship Type="http://schemas.openxmlformats.org/officeDocument/2006/relationships/notesMaster" Target="/ppt/notesMasters/notesMaster1.xml" Id="Rf13c2ff8275d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7a30db98544873" /><Relationship Type="http://schemas.openxmlformats.org/officeDocument/2006/relationships/notesMaster" Target="/ppt/notesMasters/notesMaster1.xml" Id="R4e83d0306de544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03f291eaf47b1" /><Relationship Type="http://schemas.openxmlformats.org/officeDocument/2006/relationships/notesMaster" Target="/ppt/notesMasters/notesMaster1.xml" Id="R5c5554169d6242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7fc43d85c846a9" /><Relationship Type="http://schemas.openxmlformats.org/officeDocument/2006/relationships/notesMaster" Target="/ppt/notesMasters/notesMaster1.xml" Id="R82cc6d1c4fd146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3530a870d84506" /><Relationship Type="http://schemas.openxmlformats.org/officeDocument/2006/relationships/notesMaster" Target="/ppt/notesMasters/notesMaster1.xml" Id="R036859714cda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3f14fd30fd4963" /><Relationship Type="http://schemas.openxmlformats.org/officeDocument/2006/relationships/notesMaster" Target="/ppt/notesMasters/notesMaster1.xml" Id="Reb48d52e6e5b41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d92ee9f50c4a04" /><Relationship Type="http://schemas.openxmlformats.org/officeDocument/2006/relationships/notesMaster" Target="/ppt/notesMasters/notesMaster1.xml" Id="R537a76335bf34f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1ce93b82041a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8aff5f6364a436d" /><Relationship Type="http://schemas.openxmlformats.org/officeDocument/2006/relationships/slideLayout" Target="/ppt/slideLayouts/slideLayout2.xml" Id="Rd2fcbd505869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cbd505869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e5aab462ed4da3" /><Relationship Type="http://schemas.openxmlformats.org/officeDocument/2006/relationships/image" Target="/ppt/media/image.png" Id="R29f1754007f74109" /><Relationship Type="http://schemas.openxmlformats.org/officeDocument/2006/relationships/notesSlide" Target="/ppt/notesSlides/notesSlide1.xml" Id="R8a4999ac739b49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5786e0db5141d6" /><Relationship Type="http://schemas.openxmlformats.org/officeDocument/2006/relationships/notesSlide" Target="/ppt/notesSlides/notesSlide2.xml" Id="R3eb4004121af49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f5b852c764a8b" /><Relationship Type="http://schemas.openxmlformats.org/officeDocument/2006/relationships/notesSlide" Target="/ppt/notesSlides/notesSlide3.xml" Id="R10dcdc4a56d341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30e52f0c384a30" /><Relationship Type="http://schemas.openxmlformats.org/officeDocument/2006/relationships/notesSlide" Target="/ppt/notesSlides/notesSlide4.xml" Id="R5ce866f6004147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07fcd578f8427e" /><Relationship Type="http://schemas.openxmlformats.org/officeDocument/2006/relationships/notesSlide" Target="/ppt/notesSlides/notesSlide5.xml" Id="R314de1c6d2d94b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f3c227895d401c" /><Relationship Type="http://schemas.openxmlformats.org/officeDocument/2006/relationships/notesSlide" Target="/ppt/notesSlides/notesSlide6.xml" Id="R62fcacc924e84c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c88f1e7c24696" /><Relationship Type="http://schemas.openxmlformats.org/officeDocument/2006/relationships/notesSlide" Target="/ppt/notesSlides/notesSlide7.xml" Id="Recc0d31c75cf46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ecae40ad2c4ab3" /><Relationship Type="http://schemas.openxmlformats.org/officeDocument/2006/relationships/notesSlide" Target="/ppt/notesSlides/notesSlide8.xml" Id="R4fe9e3309f2346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f8fc524c674bd1" /><Relationship Type="http://schemas.openxmlformats.org/officeDocument/2006/relationships/notesSlide" Target="/ppt/notesSlides/notesSlide9.xml" Id="Re3044a349d564a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DE62B-144D-4EE9-A031-4C3F1F2D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1107F-7018-445B-94DE-8576B8B9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435B3-4693-452E-A606-1684074E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CCB74-2125-4074-AC09-CDC5049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1754007f74109"/>
          <a:stretch xmlns:a="http://schemas.openxmlformats.org/drawingml/2006/main"/>
        </p:blipFill>
        <p:spPr>
          <a:xfrm xmlns:a="http://schemas.openxmlformats.org/drawingml/2006/main">
            <a:off x="8096250" y="112395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3D021-E5CB-4368-9520-B3DEEF13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mezoCircles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27758-2FA7-4581-A4C1-D2C6A149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Borrow MUSD against BTC through a per-user Mezo vault.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3EF3F-BC35-4892-9CDA-F79F10F7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571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No selling. No wrapping. No bank.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CA8DE-87D5-4EEF-9D6E-89B5F78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67466-2BF5-40DF-9D81-CD75697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Mezo testnet 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9BB94-502A-49D2-8B19-705BF211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AD8E1-A9A3-43AB-9CB2-7CBEBA93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52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MUSD borrowing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6C4E6-EF07-4B40-BD29-05AF5DA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15392-857D-460D-985D-59042974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52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211C"/>
                </a:solidFill>
                <a:latin typeface="Aptos"/>
                <a:ea typeface="Aptos"/>
                <a:cs typeface="Aptos"/>
              </a:rPr>
              <a:t>BTC collateral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0F2D6-4454-4760-851A-B999C7DA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2053357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BE479C-F735-452F-AB76-5D82C689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F52DD-5A3B-43A9-B9CF-F44CCCB9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2B28C-BC9D-4A06-A958-E551ABD5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7579B-70CE-4F1B-A683-0498ED0B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BTC holders need dollar liquidity without giving up BTC.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DD3DC-2537-4047-92C0-90C4CA93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030AC-A3C2-4B3B-BA41-013EC24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7334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The core problem is not that borrowing primitives do not exist. The problem is that raw CDP/Trove flows expose protocol details, wallet approvals, liquidation math, and testnet configuration before a user understands the position.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60B62-0F46-4623-BF27-835DE30F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3333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6232B-8231-4377-9742-6D9ED503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BD3D1-8E8E-4C02-A5B7-EDF44BF2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Selling BTC breaks 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F4839-7BD4-4645-BCD2-87CC9AF9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2876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Users who need cash may not want to exit their Bitcoin 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D86BB-AC08-4386-9870-57FAAF9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3333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924CA-029A-4BF0-8493-807B2877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1F0C0-1C74-4767-9BD2-E06F01A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Raw borrowing is technical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71C93-3B20-4314-A638-7364A33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2876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Hints, debt minimums, approvals, ICR, fees, and contract addresses are easy to get wrong.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2A883-5454-4C4F-BC80-B3C786CD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3333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D7FDB-3834-4A84-AB39-B40DF3D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5DA0D-D2D7-47FF-AB67-1F255F42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86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Bank rails are slow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6E653-E407-47DE-86AA-393E71C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19600"/>
            <a:ext cx="2876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BTC-native users want a direct path from collateral to usable dollars.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DB307-63CD-414C-9D4C-BA516851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4409021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81CAF6-8E14-4E51-A7F7-AE684EF2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EE2AA-29FA-4FEC-947B-C27808BC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566D5-3ACB-4838-A804-DDD940BB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382CD-5507-4253-892D-0ED6508F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A per-user vault simplifies Mezo MUSD borrowing.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4245B-D6CE-442B-A3F2-963D2C98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9DEEB-FFC7-42C8-99F4-F53FCB11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676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One deployed MezoCirclesVault equals one user's Mezo Trove. The vault owns the Trove at the protocol layer, while the user's EOA remains the controller.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D171D-7AE9-4005-BFB9-2BB2911D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64230-4950-4A71-854C-AC9B9CFF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99E47-A6B9-483F-BA01-FE070CF6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B2880-E8C6-4405-9669-FC21CB1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C0C66-9AB6-4AB0-B448-134A8768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USER WALLET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C60CB-3735-4227-8AA1-EF8961A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24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 VAULT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EE3BF-6B9B-427A-95F5-91C2934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 BORROWER 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30424-7A37-4EB2-92AF-F3A2432A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24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MUSD TO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CA101-0AE9-45E1-85C4-6C880252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EOA controls vault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B17B5-3B83-4054-8DFB-60B9665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909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Open, add, repay, close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C2EE1-9ABF-473F-8CF6-B6C2935F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Trove is created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DF257-2596-4486-AD89-6131C5BB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909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Borrowed dollars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389E-A459-4783-9491-1779E2E3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38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E010C-94D5-4A16-9AEB-ED0E22B2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957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211C"/>
                </a:solidFill>
                <a:latin typeface="Aptos"/>
                <a:ea typeface="Aptos"/>
                <a:cs typeface="Aptos"/>
              </a:rPr>
              <a:t>BTC 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F16AF-5AFA-4E33-9692-CF1228B3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385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545E2-7A39-4570-BBB6-6D036273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957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MUSD 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704C1-EA4D-4819-9365-8E54E253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902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The product removes protocol plumbing from the user's first borrowing experience while preserving Mezo's real CDP constraints.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DB01D-1C1E-4620-BFCA-C6B77D74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808117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4EF8E2-E639-46BD-ADBD-34F3CBE7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8002B-E327-41D1-9A4A-6E809AED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37E71-C8FE-4AEA-9E30-D16D72E7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614C8-F31C-449C-91B2-79B1EB7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The current product is deliberately narrow and testable.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E4070-B672-4888-A6FF-8FD77CC5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9AB34-E177-4165-81C7-C84E8E47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802B7-C618-4583-9FC0-C0ECCCDB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3D223-A35B-4131-8B7D-550AE30E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4 mutations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5D623-176C-4700-8C64-39FA2A5E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876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openVault, addCollateral, repayDebt, closeVault. Repay and close pull MUSD only after owner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3827F-9F05-4662-B169-16BC9A8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A40E1-E780-4422-82C5-CE31C692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READS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5A471-BF8C-40C4-BF74-B7C34B6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5 vault 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CF282-DD54-412D-84F5-9802FF36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876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Status, debt, collateral, ICR, and combined position reads keep the dashboard in sync after each tx.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8D22F-9C6D-4E78-B668-F264F99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128C3-56D9-4CAE-AF3A-90FE0E48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276AD-F488-4949-8DFD-02C85EB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Action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05E7C-F5FD-4BE8-AD6D-0196781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876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ConnectKit + wagmi/viem interface for opening, monitoring, repaying, and closing a position.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B8202-907D-43AF-99F7-72397F1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This scope is intentional: no fake account abstraction, no fake yield, and no invented BTC bridge on testnet. The build follows the Mezo capabilities validated before implementation.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DF9B1-44CA-4640-B175-CFDEC519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12231861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9FCF2-46BF-4D6B-A74E-EC85C2A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32F6F-65C7-486E-AB07-4FD57209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C17BF-748E-4B64-8ABA-C046FBA4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722D5-C49D-403C-9356-F59EFD9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The user flow is a simple borrowing workbench.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0BF46-D720-47A3-B103-C45AC455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1BB79-2F95-4DFB-86A9-A198AC35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35985-F88E-4CB8-8290-D1EDBB4B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9A935-6F50-4950-AA32-2423383A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3F9F9-B4DE-4493-98B2-36309C0F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561A8-328F-4432-A1C8-1CA194F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User connects an EOA wallet on Mezo testnet.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C0D48-8603-498A-A1E0-E0C943E0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F58A1-801F-4F90-8550-B2F4B361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5F225-5DE9-47AD-8FA5-AE88A66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A2FE2-D134-4971-AC8A-92256530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211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D3509-F6EE-4B11-9D1F-482E32E7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64D0A-B487-46D5-922F-D8B48B5D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76625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User deposits BTC and borrows at least 1,800 MUSD.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87838-345C-46C6-8169-9FF51055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CE5D9-32C4-476B-ABD3-502C2E8B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085AD-E0A9-4736-AE2A-96FEA3FC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A9078-6CD8-4C31-963A-9CA8745A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9CE15-8612-4290-AF1E-4CD553A6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8571A-A73C-4521-AAFA-BD60D685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Dashboard shows debt, collateral, ICR, liquidation price, and BTC drop buffer.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782E8-86B5-4D16-A76C-1D52344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D324F-5E85-4585-A383-E53A9E3D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F3873-E4B6-4DB8-B280-AD491F1C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B8F6E7-5CCD-46C0-BF31-8F1CCE5C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B8887-B2CC-4578-B47D-CC94738D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MANAGE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3D324-853F-4018-ABB4-7BA97B0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76625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User adds BTC, repays MUSD, approves when needed, or closes the position.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13365-52E8-4376-AC07-A7F8B60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7998637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33A52-BF7C-4D3C-84D5-3190141B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10192-3790-44B9-9FDB-A52C70F5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6A4DC-50A7-4B9A-BB31-9578DBCA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A85C9-44A7-4DD1-97DE-31D5CEB9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Checkpoint proof: contract, testnet, and deployed UI.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5A2C5-BD6E-474B-B0ED-E3E0F89D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564FB-D8E4-4BE0-BFCC-FA8AC70B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52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063B3-4265-40A0-912B-880EB13B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7D5B"/>
                </a:solidFill>
                <a:latin typeface="Aptos"/>
                <a:ea typeface="Aptos"/>
                <a:cs typeface="Aptos"/>
              </a:rPr>
              <a:t>ON-CHAIN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3581C-B82C-4D1E-9665-8528EB4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306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Vault deployed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2BD74-A2A4-489B-AF2F-05F34043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3067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Mezo testnet vault: 0x073F...9e20. Manual e2e opened a Trove and forwarded borrowed MUSD to the owner wallet.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54154-E9A0-46B7-A342-55137ED1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352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49AE2-4156-403F-A005-F0A8D9E2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2885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5D0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5D05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A2F03-1B66-4808-AA1F-7C748C64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306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Mock + fork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B483A-F81E-4A20-9396-92CF6880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3067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Foundry unit tests cover the vault wrapper. Fork testing validates Mezo interface assumptions against live testnet bytecode.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2A19C-B881-4CA8-A1EB-A845E09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52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4D289-240D-4742-BD7B-1586605B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211C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1A01D-815A-4102-943A-96E64008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06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Live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C5D82-375A-4D7E-9DA7-4CE80F6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3067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The web app is deployed and connected to Mezo testnet addresses, with protected dashboard routing and guided onboarding.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23D4C-A418-4A71-BCE9-22F493A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Repo: https://github.com/fozagtx/mezoCircles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EA81F-66C5-4DE5-B529-0FD3B67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Live: https://mezocircles.vercel.app/app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5C444-8EAC-4490-BA9D-C2D1EA59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354142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8EAB4-A2AC-445E-8CCC-EC3C768F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D5E7F-9132-4DFB-8B48-381066FC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3CC85-F47E-459E-9003-823DC262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D6702-8043-4AC1-97A4-F0621D4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MUSD is the borrowed dollar, not a reward token.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9B195-E3F9-45A1-AF30-2B3AAF10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A6230-59FC-4CB8-87AB-F939F151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448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mezoCircles positions MUSD as the liquidity layer for BTC holders: users lock BTC as collateral, borrow MUSD, use or hold it, then repay MUSD to unlock the BTC collateral.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7623A-79EA-4C65-B48C-5C6BE5D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7D594-E7E4-4DD9-8293-E4C073CA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BTC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9D061-A720-4306-9CDA-AE3667F8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Collateral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42855-45AA-4FEA-914D-063160B6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6707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User keeps BTC exposure while accessing dollar liquidity.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849B0-DB65-45DD-BBF8-829FCE40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E7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54BA2-DD0A-4DEA-BF94-BBC8658C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528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MUSD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72F80-3547-4913-A5AD-79BF262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338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Debt asset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99CD0-5394-4D9D-B221-428381F8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3382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Borrowed amount is forwarded to the owner wallet after opening.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6C9BE-AED9-4402-B0CD-FAD28E8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BF2D9-171E-42FE-A8A3-E35A340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96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ICR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85FC6-FC99-4034-B05A-58A342F5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Risk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877F3-094B-4CB1-8E38-29FFC2A7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0057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Dashboard explains collateralization and liquidation distance.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A7AD0-A7CF-4472-BEF7-752D6745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E7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7DF02-2897-4A8B-9E3B-80434266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863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Repay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822EB-2073-4DA3-B433-B18C545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673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Exit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47749-7DA1-4564-B3DE-9D972C53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6732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User approves MUSD, repays debt, and closes the vault.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5375F-8592-4853-9F9D-DBEC19D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8460155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87FF4-EE88-4C35-A132-CBD9E43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46AF7-1FA1-4D63-A176-E5C9A5FF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36F84-70E5-4E7A-B8AE-2AD58652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0EE35-F431-417F-BD0A-B3F0AFA6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Readiness: working demo, not mainnet-ready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7C252-9BE1-468E-B0CB-94BF73E8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8CDDA-297B-457E-8068-32817AC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286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61F3C-B380-4157-8E8E-BB2CABF1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28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7D5B"/>
                </a:solidFill>
                <a:latin typeface="Aptos"/>
                <a:ea typeface="Aptos"/>
                <a:cs typeface="Aptos"/>
              </a:rPr>
              <a:t>USE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DD0B1-9EBA-482A-965F-4A0241F1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8289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Working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9548E-46F5-446F-BF3F-9C9E3228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8289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Contract and frontend are live on Mezo testnet. The flow can open, monitor, repay, and close a BTC-backed MUSD position.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4BEA2-DFB9-4DB8-AE6C-888D0EFB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3286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9F6CC-99FA-4B32-90D2-7B84B36B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2828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5D0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5D05"/>
                </a:solidFill>
                <a:latin typeface="Aptos"/>
                <a:ea typeface="Aptos"/>
                <a:cs typeface="Aptos"/>
              </a:rPr>
              <a:t>NEEDS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1DC5B-86B2-4AEC-89A3-6EAF3B32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8289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Mainnet prep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234DC-2F9A-45B8-A79D-AA2D8553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8289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Before mainnet: deployer/factory flow, stronger monitoring, keeper logic, finalized bridge UX, and mainnet address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B8A42-7586-4A83-BBF2-C8C5C218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2861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DF16F-BF99-4254-A061-061D9FF0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828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56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563A"/>
                </a:solidFill>
                <a:latin typeface="Aptos"/>
                <a:ea typeface="Aptos"/>
                <a:cs typeface="Aptos"/>
              </a:rPr>
              <a:t>NOT INCLUDED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C0AA6-6B1F-41DA-A401-64C32B4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8289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No fake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F4E6A-FEED-4E89-9DCC-F07068D1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8289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No ERC-4337 claim, no fake testnet bridge, no artificial yield. These are deferred until Mezo support and infrastructure are real.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542A8-1820-451F-9D71-DC7C826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211C"/>
                </a:solidFill>
                <a:latin typeface="Aptos"/>
                <a:ea typeface="Aptos"/>
                <a:cs typeface="Aptos"/>
              </a:rPr>
              <a:t>Recommended submission readiness: Working Demo.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CD1A-6C1A-4C9F-AD83-BEE3BA74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19052540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69B389-8BE5-41CA-82F2-7F199F2B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ADD4F-B9BB-41AD-B4CC-EF437F70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33CE5-5300-4FCE-BF28-C13487D6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98279"/>
                </a:solidFill>
                <a:latin typeface="Aptos"/>
                <a:ea typeface="Aptos"/>
                <a:cs typeface="Aptos"/>
              </a:rPr>
              <a:t>MEZOCIRCLES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E8D8D-3045-4CF5-8E6E-5CCBBE00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704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Next milestones move the demo toward a safer BTC borrowing product.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3623A-ABDC-4EE8-BDE0-2C2FD74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Checkpoint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B319F-3513-4F72-A53C-9798D54D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6DECB-3D81-43CF-AADB-B8593F9F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7D5B"/>
                </a:solidFill>
                <a:latin typeface="Aptos"/>
                <a:ea typeface="Aptos"/>
                <a:cs typeface="Aptos"/>
              </a:rPr>
              <a:t>2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FF5BF-0AB0-4A42-843A-16C43F76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Vault factory + onboarding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51E00-646B-48F1-B464-D759D8A6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971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Deploy per-user vaults from the app, remove manual env setup, and add a guided first-position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C1CA0-C1AC-4ADC-B5B9-AC4D6D5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6CF15-6663-4916-B444-6A4678B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5D0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5D05"/>
                </a:solidFill>
                <a:latin typeface="Aptos"/>
                <a:ea typeface="Aptos"/>
                <a:cs typeface="Aptos"/>
              </a:rPr>
              <a:t>4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EDC41-3E3F-4C35-8BC4-1061C506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Liquidation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7F9BF-7A84-4811-93C4-EFCC47F8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67050"/>
            <a:ext cx="2971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Add alerts, risk zones, and optional keeper-assisted collateral top-up or repay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CA4A7-3CEF-499D-B842-AF9B98C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04483-E5CF-4727-9662-7D56747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21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211C"/>
                </a:solidFill>
                <a:latin typeface="Aptos"/>
                <a:ea typeface="Aptos"/>
                <a:cs typeface="Aptos"/>
              </a:rPr>
              <a:t>6-8 WEEKS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B55E5-DBCA-4818-A0F3-B5E6D011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4211C"/>
                </a:solidFill>
                <a:latin typeface="Aptos Display"/>
                <a:ea typeface="Aptos Display"/>
                <a:cs typeface="Aptos Display"/>
              </a:rPr>
              <a:t>Mainnet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B51BA-DC6B-45E1-81EC-5DFE85C3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971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Run audits, finalize mainnet MUSD/tBTC addresses, and document the bridge-to-borrow user path.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ACA05-3D64-439C-BE55-03C12C2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514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5149"/>
                </a:solidFill>
                <a:latin typeface="Aptos"/>
                <a:ea typeface="Aptos"/>
                <a:cs typeface="Aptos"/>
              </a:rPr>
              <a:t>Team: Fawuzan / fozagtx - product, smart contracts, frontend, and deployment. Add X or LinkedIn links before final submission.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90E13-4917-4731-92C3-A66B05C1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9827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98279"/>
                </a:solidFill>
                <a:latin typeface="Aptos"/>
                <a:ea typeface="Aptos"/>
                <a:cs typeface="Aptos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242734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2026-05-24T23:59:19.1860000Z</dcterms:created>
  <dcterms:modified xsi:type="dcterms:W3CDTF">2026-05-24T23:59:19.1860000Z</dcterms:modified>
</coreProperties>
</file>